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5"/>
  </p:notesMasterIdLst>
  <p:handoutMasterIdLst>
    <p:handoutMasterId r:id="rId6"/>
  </p:handoutMasterIdLst>
  <p:sldIdLst>
    <p:sldId id="818" r:id="rId2"/>
    <p:sldId id="817" r:id="rId3"/>
    <p:sldId id="823" r:id="rId4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>
          <p15:clr>
            <a:srgbClr val="A4A3A4"/>
          </p15:clr>
        </p15:guide>
        <p15:guide id="2" orient="horz" pos="2750">
          <p15:clr>
            <a:srgbClr val="A4A3A4"/>
          </p15:clr>
        </p15:guide>
        <p15:guide id="3" orient="horz" pos="1253">
          <p15:clr>
            <a:srgbClr val="A4A3A4"/>
          </p15:clr>
        </p15:guide>
        <p15:guide id="4" orient="horz" pos="3612">
          <p15:clr>
            <a:srgbClr val="A4A3A4"/>
          </p15:clr>
        </p15:guide>
        <p15:guide id="5" orient="horz" pos="2251">
          <p15:clr>
            <a:srgbClr val="A4A3A4"/>
          </p15:clr>
        </p15:guide>
        <p15:guide id="6" orient="horz" pos="3249">
          <p15:clr>
            <a:srgbClr val="A4A3A4"/>
          </p15:clr>
        </p15:guide>
        <p15:guide id="7" pos="612">
          <p15:clr>
            <a:srgbClr val="A4A3A4"/>
          </p15:clr>
        </p15:guide>
        <p15:guide id="8" pos="204">
          <p15:clr>
            <a:srgbClr val="A4A3A4"/>
          </p15:clr>
        </p15:guide>
        <p15:guide id="9" pos="2880">
          <p15:clr>
            <a:srgbClr val="A4A3A4"/>
          </p15:clr>
        </p15:guide>
        <p15:guide id="10" pos="5647">
          <p15:clr>
            <a:srgbClr val="A4A3A4"/>
          </p15:clr>
        </p15:guide>
        <p15:guide id="11" pos="4422">
          <p15:clr>
            <a:srgbClr val="A4A3A4"/>
          </p15:clr>
        </p15:guide>
        <p15:guide id="12" pos="2426">
          <p15:clr>
            <a:srgbClr val="A4A3A4"/>
          </p15:clr>
        </p15:guide>
        <p15:guide id="13" pos="22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99"/>
    <a:srgbClr val="FFFF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8" autoAdjust="0"/>
  </p:normalViewPr>
  <p:slideViewPr>
    <p:cSldViewPr>
      <p:cViewPr varScale="1">
        <p:scale>
          <a:sx n="88" d="100"/>
          <a:sy n="88" d="100"/>
        </p:scale>
        <p:origin x="1334" y="62"/>
      </p:cViewPr>
      <p:guideLst>
        <p:guide orient="horz" pos="1752"/>
        <p:guide orient="horz" pos="2750"/>
        <p:guide orient="horz" pos="1253"/>
        <p:guide orient="horz" pos="3612"/>
        <p:guide orient="horz" pos="2251"/>
        <p:guide orient="horz" pos="3249"/>
        <p:guide pos="612"/>
        <p:guide pos="204"/>
        <p:guide pos="2880"/>
        <p:guide pos="5647"/>
        <p:guide pos="4422"/>
        <p:guide pos="2426"/>
        <p:guide pos="2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-2208" y="-96"/>
      </p:cViewPr>
      <p:guideLst>
        <p:guide orient="horz" pos="3127"/>
        <p:guide pos="2141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8" y="5"/>
            <a:ext cx="2946065" cy="495793"/>
          </a:xfrm>
          <a:prstGeom prst="rect">
            <a:avLst/>
          </a:prstGeom>
        </p:spPr>
        <p:txBody>
          <a:bodyPr vert="horz" lIns="87231" tIns="43615" rIns="87231" bIns="43615" rtlCol="0"/>
          <a:lstStyle>
            <a:lvl1pPr algn="l">
              <a:defRPr sz="11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100" y="5"/>
            <a:ext cx="2946065" cy="495793"/>
          </a:xfrm>
          <a:prstGeom prst="rect">
            <a:avLst/>
          </a:prstGeom>
        </p:spPr>
        <p:txBody>
          <a:bodyPr vert="horz" lIns="87231" tIns="43615" rIns="87231" bIns="43615" rtlCol="0"/>
          <a:lstStyle>
            <a:lvl1pPr algn="r">
              <a:defRPr sz="1100"/>
            </a:lvl1pPr>
          </a:lstStyle>
          <a:p>
            <a:fld id="{38371DFA-2300-4DC5-86B3-62F2F196374A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8" y="9429310"/>
            <a:ext cx="2946065" cy="495793"/>
          </a:xfrm>
          <a:prstGeom prst="rect">
            <a:avLst/>
          </a:prstGeom>
        </p:spPr>
        <p:txBody>
          <a:bodyPr vert="horz" lIns="87231" tIns="43615" rIns="87231" bIns="43615" rtlCol="0" anchor="b"/>
          <a:lstStyle>
            <a:lvl1pPr algn="l">
              <a:defRPr sz="11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100" y="9429310"/>
            <a:ext cx="2946065" cy="495793"/>
          </a:xfrm>
          <a:prstGeom prst="rect">
            <a:avLst/>
          </a:prstGeom>
        </p:spPr>
        <p:txBody>
          <a:bodyPr vert="horz" lIns="87231" tIns="43615" rIns="87231" bIns="43615" rtlCol="0" anchor="b"/>
          <a:lstStyle>
            <a:lvl1pPr algn="r">
              <a:defRPr sz="1100"/>
            </a:lvl1pPr>
          </a:lstStyle>
          <a:p>
            <a:fld id="{B5E46C67-4872-4E75-A850-47CEE11BEEF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055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" y="5"/>
            <a:ext cx="2945659" cy="496335"/>
          </a:xfrm>
          <a:prstGeom prst="rect">
            <a:avLst/>
          </a:prstGeom>
        </p:spPr>
        <p:txBody>
          <a:bodyPr vert="horz" lIns="90270" tIns="45136" rIns="90270" bIns="45136" rtlCol="0"/>
          <a:lstStyle>
            <a:lvl1pPr algn="l">
              <a:defRPr sz="11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53" y="5"/>
            <a:ext cx="2945659" cy="496335"/>
          </a:xfrm>
          <a:prstGeom prst="rect">
            <a:avLst/>
          </a:prstGeom>
        </p:spPr>
        <p:txBody>
          <a:bodyPr vert="horz" lIns="90270" tIns="45136" rIns="90270" bIns="45136" rtlCol="0"/>
          <a:lstStyle>
            <a:lvl1pPr algn="r">
              <a:defRPr sz="1100"/>
            </a:lvl1pPr>
          </a:lstStyle>
          <a:p>
            <a:fld id="{C295EE5D-00CE-44BB-ABDA-7FD2094A9187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60937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270" tIns="45136" rIns="90270" bIns="4513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64"/>
            <a:ext cx="5438140" cy="4466987"/>
          </a:xfrm>
          <a:prstGeom prst="rect">
            <a:avLst/>
          </a:prstGeom>
        </p:spPr>
        <p:txBody>
          <a:bodyPr vert="horz" lIns="90270" tIns="45136" rIns="90270" bIns="45136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9" y="9428586"/>
            <a:ext cx="2945659" cy="496335"/>
          </a:xfrm>
          <a:prstGeom prst="rect">
            <a:avLst/>
          </a:prstGeom>
        </p:spPr>
        <p:txBody>
          <a:bodyPr vert="horz" lIns="90270" tIns="45136" rIns="90270" bIns="45136" rtlCol="0" anchor="b"/>
          <a:lstStyle>
            <a:lvl1pPr algn="l">
              <a:defRPr sz="11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53" y="9428586"/>
            <a:ext cx="2945659" cy="496335"/>
          </a:xfrm>
          <a:prstGeom prst="rect">
            <a:avLst/>
          </a:prstGeom>
        </p:spPr>
        <p:txBody>
          <a:bodyPr vert="horz" lIns="90270" tIns="45136" rIns="90270" bIns="45136" rtlCol="0" anchor="b"/>
          <a:lstStyle>
            <a:lvl1pPr algn="r">
              <a:defRPr sz="1100"/>
            </a:lvl1pPr>
          </a:lstStyle>
          <a:p>
            <a:fld id="{B738A3FC-9B6E-4FAB-98E1-C8A9DF3830F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846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73211-DE9E-452B-BAD1-E8E3F69D41FD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D814-C0BF-4490-A4BE-081C464B0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73211-DE9E-452B-BAD1-E8E3F69D41FD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D814-C0BF-4490-A4BE-081C464B0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73211-DE9E-452B-BAD1-E8E3F69D41FD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D814-C0BF-4490-A4BE-081C464B0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73211-DE9E-452B-BAD1-E8E3F69D41FD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D814-C0BF-4490-A4BE-081C464B0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73211-DE9E-452B-BAD1-E8E3F69D41FD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D814-C0BF-4490-A4BE-081C464B0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73211-DE9E-452B-BAD1-E8E3F69D41FD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D814-C0BF-4490-A4BE-081C464B0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73211-DE9E-452B-BAD1-E8E3F69D41FD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D814-C0BF-4490-A4BE-081C464B0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73211-DE9E-452B-BAD1-E8E3F69D41FD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D814-C0BF-4490-A4BE-081C464B0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73211-DE9E-452B-BAD1-E8E3F69D41FD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D814-C0BF-4490-A4BE-081C464B0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73211-DE9E-452B-BAD1-E8E3F69D41FD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D814-C0BF-4490-A4BE-081C464B0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73211-DE9E-452B-BAD1-E8E3F69D41FD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D814-C0BF-4490-A4BE-081C464B0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73211-DE9E-452B-BAD1-E8E3F69D41FD}" type="datetimeFigureOut">
              <a:rPr lang="ko-KR" altLang="en-US" smtClean="0"/>
              <a:pPr/>
              <a:t>2025-12-03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2D814-C0BF-4490-A4BE-081C464B0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Rectangle 11"/>
          <p:cNvSpPr>
            <a:spLocks noChangeArrowheads="1"/>
          </p:cNvSpPr>
          <p:nvPr userDrawn="1"/>
        </p:nvSpPr>
        <p:spPr bwMode="auto">
          <a:xfrm>
            <a:off x="0" y="476250"/>
            <a:ext cx="9144000" cy="73025"/>
          </a:xfrm>
          <a:prstGeom prst="rect">
            <a:avLst/>
          </a:prstGeom>
          <a:gradFill rotWithShape="0">
            <a:gsLst>
              <a:gs pos="0">
                <a:schemeClr val="tx2">
                  <a:lumMod val="40000"/>
                  <a:lumOff val="60000"/>
                </a:schemeClr>
              </a:gs>
              <a:gs pos="100000">
                <a:srgbClr val="FFFFFF"/>
              </a:gs>
              <a:gs pos="100000">
                <a:schemeClr val="accent2">
                  <a:lumMod val="5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+mn-lt"/>
              <a:ea typeface="+mn-e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9525" y="6597650"/>
            <a:ext cx="2771775" cy="184150"/>
          </a:xfrm>
          <a:prstGeom prst="rect">
            <a:avLst/>
          </a:prstGeom>
          <a:noFill/>
        </p:spPr>
        <p:txBody>
          <a:bodyPr lIns="95784" tIns="0" rIns="95784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i="1" dirty="0">
                <a:solidFill>
                  <a:srgbClr val="7030A0"/>
                </a:solidFill>
                <a:latin typeface="맑은 고딕" pitchFamily="50" charset="-127"/>
                <a:ea typeface="맑은 고딕" pitchFamily="50" charset="-127"/>
              </a:rPr>
              <a:t>Creative Realization of Imagination</a:t>
            </a:r>
            <a:endParaRPr kumimoji="0" lang="ko-KR" altLang="en-US" sz="1200" b="1" i="1" dirty="0">
              <a:solidFill>
                <a:srgbClr val="7030A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Picture 10" descr="rndlogo8"/>
          <p:cNvPicPr>
            <a:picLocks noChangeAspect="1" noChangeArrowheads="1"/>
          </p:cNvPicPr>
          <p:nvPr userDrawn="1"/>
        </p:nvPicPr>
        <p:blipFill>
          <a:blip r:embed="rId14" cstate="print"/>
          <a:stretch>
            <a:fillRect/>
          </a:stretch>
        </p:blipFill>
        <p:spPr bwMode="auto">
          <a:xfrm>
            <a:off x="6804310" y="6525430"/>
            <a:ext cx="864120" cy="33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 userDrawn="1"/>
        </p:nvSpPr>
        <p:spPr>
          <a:xfrm>
            <a:off x="7596188" y="6602413"/>
            <a:ext cx="1519237" cy="184150"/>
          </a:xfrm>
          <a:prstGeom prst="rect">
            <a:avLst/>
          </a:prstGeom>
          <a:noFill/>
        </p:spPr>
        <p:txBody>
          <a:bodyPr lIns="95784" tIns="0" rIns="95784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dirty="0">
                <a:latin typeface="맑은 고딕" pitchFamily="50" charset="-127"/>
                <a:ea typeface="맑은 고딕" pitchFamily="50" charset="-127"/>
              </a:rPr>
              <a:t>㈜로봇앤드디자인</a:t>
            </a:r>
          </a:p>
        </p:txBody>
      </p:sp>
      <p:sp>
        <p:nvSpPr>
          <p:cNvPr id="11" name="타원 10"/>
          <p:cNvSpPr/>
          <p:nvPr userDrawn="1"/>
        </p:nvSpPr>
        <p:spPr>
          <a:xfrm>
            <a:off x="0" y="6471344"/>
            <a:ext cx="9144000" cy="54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12" name="Rectangle 11"/>
          <p:cNvSpPr>
            <a:spLocks noChangeArrowheads="1"/>
          </p:cNvSpPr>
          <p:nvPr userDrawn="1"/>
        </p:nvSpPr>
        <p:spPr bwMode="auto">
          <a:xfrm rot="10800000">
            <a:off x="0" y="0"/>
            <a:ext cx="9144000" cy="47625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rgbClr val="FFFFFF"/>
              </a:gs>
              <a:gs pos="100000">
                <a:schemeClr val="accent2">
                  <a:lumMod val="50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+mn-lt"/>
              <a:ea typeface="+mn-ea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3784600" y="6556375"/>
            <a:ext cx="1574800" cy="2571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tIns="36000" bIns="3600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>
                <a:solidFill>
                  <a:srgbClr val="FF0000"/>
                </a:solidFill>
                <a:latin typeface="+mn-lt"/>
                <a:ea typeface="+mn-ea"/>
              </a:rPr>
              <a:t>Confidential</a:t>
            </a:r>
            <a:endParaRPr kumimoji="0" lang="ko-KR" altLang="en-US" sz="1200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5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476" y="620610"/>
            <a:ext cx="89292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-</a:t>
            </a:r>
            <a:r>
              <a:rPr lang="en-US" altLang="ko-KR" dirty="0">
                <a:solidFill>
                  <a:srgbClr val="FF0000"/>
                </a:solidFill>
              </a:rPr>
              <a:t>3135 Phase offset too </a:t>
            </a:r>
            <a:r>
              <a:rPr lang="en-US" altLang="ko-KR" dirty="0" smtClean="0">
                <a:solidFill>
                  <a:srgbClr val="FF0000"/>
                </a:solidFill>
              </a:rPr>
              <a:t>large</a:t>
            </a:r>
          </a:p>
          <a:p>
            <a:r>
              <a:rPr lang="en-US" altLang="ko-KR" dirty="0"/>
              <a:t>Phase offset too </a:t>
            </a:r>
            <a:r>
              <a:rPr lang="en-US" altLang="ko-KR" dirty="0" smtClean="0"/>
              <a:t>large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 smtClean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3" y="1268700"/>
            <a:ext cx="7020905" cy="57158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6" y="2363236"/>
            <a:ext cx="8137214" cy="13622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6" y="2015487"/>
            <a:ext cx="4968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Master board </a:t>
            </a:r>
            <a:r>
              <a:rPr lang="ko-KR" altLang="en-US" dirty="0" smtClean="0"/>
              <a:t>제조사 문의 내용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23410" y="4005080"/>
            <a:ext cx="79262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첫 부팅 시 </a:t>
            </a:r>
            <a:r>
              <a:rPr lang="en-US" altLang="ko-KR" dirty="0" smtClean="0"/>
              <a:t>current feedback</a:t>
            </a:r>
            <a:r>
              <a:rPr lang="ko-KR" altLang="en-US" dirty="0" smtClean="0"/>
              <a:t> 읽었을 </a:t>
            </a:r>
            <a:r>
              <a:rPr lang="ko-KR" altLang="en-US" dirty="0"/>
              <a:t>때</a:t>
            </a:r>
            <a:r>
              <a:rPr lang="ko-KR" altLang="en-US" dirty="0" smtClean="0"/>
              <a:t> </a:t>
            </a:r>
            <a:r>
              <a:rPr lang="en-US" altLang="ko-KR" dirty="0" smtClean="0"/>
              <a:t>Zero value(phase offset)</a:t>
            </a:r>
            <a:r>
              <a:rPr lang="ko-KR" altLang="en-US" dirty="0" smtClean="0"/>
              <a:t>이 허용 오차를 넘었을 경우 </a:t>
            </a:r>
            <a:r>
              <a:rPr lang="ko-KR" altLang="en-US" dirty="0" err="1" smtClean="0"/>
              <a:t>알람</a:t>
            </a:r>
            <a:r>
              <a:rPr lang="ko-KR" altLang="en-US" dirty="0"/>
              <a:t> </a:t>
            </a:r>
            <a:r>
              <a:rPr lang="ko-KR" altLang="en-US" dirty="0" smtClean="0"/>
              <a:t>발생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경우 떨림이나 제어가 잘 안될 수 있음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Current sensor range:</a:t>
            </a:r>
            <a:r>
              <a:rPr lang="ko-KR" altLang="en-US" dirty="0" smtClean="0"/>
              <a:t> </a:t>
            </a:r>
            <a:r>
              <a:rPr lang="en-US" altLang="ko-KR" dirty="0" smtClean="0"/>
              <a:t>4%</a:t>
            </a:r>
          </a:p>
          <a:p>
            <a:endParaRPr lang="en-US" altLang="ko-KR" dirty="0" smtClean="0"/>
          </a:p>
          <a:p>
            <a:r>
              <a:rPr lang="en-US" altLang="ko-KR" dirty="0">
                <a:solidFill>
                  <a:srgbClr val="FF0000"/>
                </a:solidFill>
              </a:rPr>
              <a:t>Automatic amplifier phase offset </a:t>
            </a:r>
            <a:r>
              <a:rPr lang="en-US" altLang="ko-KR" dirty="0" smtClean="0">
                <a:solidFill>
                  <a:srgbClr val="FF0000"/>
                </a:solidFill>
              </a:rPr>
              <a:t>correction </a:t>
            </a:r>
            <a:r>
              <a:rPr lang="ko-KR" altLang="en-US" dirty="0" smtClean="0">
                <a:solidFill>
                  <a:srgbClr val="FF0000"/>
                </a:solidFill>
              </a:rPr>
              <a:t>기능 수행이 제대로 안될 경우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 smtClean="0">
                <a:solidFill>
                  <a:srgbClr val="FF0000"/>
                </a:solidFill>
              </a:rPr>
              <a:t>-3135 </a:t>
            </a:r>
            <a:r>
              <a:rPr lang="ko-KR" altLang="en-US" dirty="0" err="1" smtClean="0">
                <a:solidFill>
                  <a:srgbClr val="FF0000"/>
                </a:solidFill>
              </a:rPr>
              <a:t>알람</a:t>
            </a:r>
            <a:r>
              <a:rPr lang="ko-KR" altLang="en-US" dirty="0" smtClean="0">
                <a:solidFill>
                  <a:srgbClr val="FF0000"/>
                </a:solidFill>
              </a:rPr>
              <a:t> 발생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779890" y="724982"/>
            <a:ext cx="3384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알람</a:t>
            </a:r>
            <a:r>
              <a:rPr lang="ko-KR" altLang="en-US" dirty="0" smtClean="0"/>
              <a:t> 내용 및 제조사 문의 내용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78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6" y="1124680"/>
            <a:ext cx="8838812" cy="15122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476" y="780400"/>
            <a:ext cx="4968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-3135 </a:t>
            </a:r>
            <a:r>
              <a:rPr lang="ko-KR" altLang="en-US" dirty="0" smtClean="0"/>
              <a:t>발생 시 조치 사항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355302" y="2708900"/>
            <a:ext cx="835316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smtClean="0"/>
              <a:t>모터 </a:t>
            </a:r>
            <a:r>
              <a:rPr lang="ko-KR" altLang="en-US" sz="1400" dirty="0"/>
              <a:t>케이블 </a:t>
            </a:r>
            <a:r>
              <a:rPr lang="en-US" altLang="ko-KR" sz="1400" dirty="0"/>
              <a:t>- </a:t>
            </a:r>
            <a:r>
              <a:rPr lang="ko-KR" altLang="en-US" sz="1400" dirty="0"/>
              <a:t>컨트롤러에서 모터까지의 전체 케이블 연결을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  <a:p>
            <a:r>
              <a:rPr lang="ko-KR" altLang="en-US" sz="1400" dirty="0" smtClean="0"/>
              <a:t>연결의 </a:t>
            </a:r>
            <a:r>
              <a:rPr lang="ko-KR" altLang="en-US" sz="1400" dirty="0"/>
              <a:t>일부가 끊어지거나 간헐적으로 </a:t>
            </a:r>
            <a:r>
              <a:rPr lang="ko-KR" altLang="en-US" sz="1400" dirty="0" smtClean="0"/>
              <a:t>연결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2. </a:t>
            </a:r>
            <a:r>
              <a:rPr lang="ko-KR" altLang="en-US" sz="1400" dirty="0" smtClean="0"/>
              <a:t>모터 </a:t>
            </a:r>
            <a:r>
              <a:rPr lang="ko-KR" altLang="en-US" sz="1400" dirty="0"/>
              <a:t>저항 </a:t>
            </a:r>
            <a:r>
              <a:rPr lang="en-US" altLang="ko-KR" sz="1400" dirty="0"/>
              <a:t>- </a:t>
            </a:r>
            <a:r>
              <a:rPr lang="ko-KR" altLang="en-US" sz="1400" dirty="0"/>
              <a:t>모터의 </a:t>
            </a:r>
            <a:r>
              <a:rPr lang="ko-KR" altLang="en-US" sz="1400" dirty="0" smtClean="0"/>
              <a:t>저항을 확인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3. </a:t>
            </a:r>
            <a:r>
              <a:rPr lang="ko-KR" altLang="en-US" sz="1400" dirty="0" smtClean="0"/>
              <a:t>컨트롤러 교체 </a:t>
            </a:r>
            <a:r>
              <a:rPr lang="en-US" altLang="ko-KR" sz="1400" dirty="0" smtClean="0"/>
              <a:t>– 1,2</a:t>
            </a:r>
            <a:r>
              <a:rPr lang="ko-KR" altLang="en-US" sz="1400" dirty="0" smtClean="0"/>
              <a:t>번을 먼저 수행한 다음 컨트롤러를 교체하고 문제가 해결되는지 확인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4. </a:t>
            </a:r>
            <a:r>
              <a:rPr lang="ko-KR" altLang="en-US" sz="1400" dirty="0"/>
              <a:t>다른 </a:t>
            </a:r>
            <a:r>
              <a:rPr lang="en-US" altLang="ko-KR" sz="1400" dirty="0"/>
              <a:t>GPL</a:t>
            </a:r>
            <a:r>
              <a:rPr lang="ko-KR" altLang="en-US" sz="1400" dirty="0"/>
              <a:t>을 </a:t>
            </a:r>
            <a:r>
              <a:rPr lang="ko-KR" altLang="en-US" sz="1400" dirty="0" smtClean="0"/>
              <a:t>시도</a:t>
            </a:r>
            <a:r>
              <a:rPr lang="en-US" altLang="ko-KR" sz="1400" dirty="0" smtClean="0"/>
              <a:t>. - Software</a:t>
            </a:r>
            <a:r>
              <a:rPr lang="ko-KR" altLang="en-US" sz="1400" dirty="0" smtClean="0"/>
              <a:t> 문제가 있는지 제조사로 문의</a:t>
            </a:r>
            <a:endParaRPr lang="en-US" altLang="ko-KR" sz="1400" dirty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5. </a:t>
            </a:r>
            <a:r>
              <a:rPr lang="ko-KR" altLang="en-US" sz="1400" dirty="0"/>
              <a:t>위의 방법으로 문제가 해결되지 않으면 검사를 위해 </a:t>
            </a:r>
            <a:r>
              <a:rPr lang="ko-KR" altLang="en-US" sz="1400" dirty="0" smtClean="0"/>
              <a:t>컨트롤러 전달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1339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10" y="2780910"/>
            <a:ext cx="7916004" cy="1827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400" y="2411578"/>
            <a:ext cx="7777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답변</a:t>
            </a:r>
            <a:r>
              <a:rPr lang="en-US" altLang="ko-KR" sz="1400" dirty="0" smtClean="0"/>
              <a:t>: Master </a:t>
            </a:r>
            <a:r>
              <a:rPr lang="en-US" altLang="ko-KR" sz="1400" dirty="0" smtClean="0"/>
              <a:t>board, Slave board, power supply, cable, Servo motor</a:t>
            </a:r>
            <a:endParaRPr lang="ko-KR" altLang="en-US" sz="1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88" y="876533"/>
            <a:ext cx="8095203" cy="13058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3410" y="556959"/>
            <a:ext cx="5472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-3135 </a:t>
            </a:r>
            <a:r>
              <a:rPr lang="ko-KR" altLang="en-US" sz="1400" dirty="0" err="1" smtClean="0"/>
              <a:t>알람</a:t>
            </a:r>
            <a:r>
              <a:rPr lang="ko-KR" altLang="en-US" sz="1400" dirty="0" smtClean="0"/>
              <a:t> 발생 시 영향을 주는 요인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7916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6350">
          <a:solidFill>
            <a:srgbClr val="FF0000"/>
          </a:solidFill>
          <a:prstDash val="dash"/>
          <a:headEnd type="none" w="med" len="lg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22465</TotalTime>
  <Words>162</Words>
  <Application>Microsoft Office PowerPoint</Application>
  <PresentationFormat>화면 슬라이드 쇼(4:3)</PresentationFormat>
  <Paragraphs>28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>RnD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pjk</dc:creator>
  <cp:lastModifiedBy>Chang hyun Lim</cp:lastModifiedBy>
  <cp:revision>1602</cp:revision>
  <cp:lastPrinted>2024-04-02T10:28:04Z</cp:lastPrinted>
  <dcterms:created xsi:type="dcterms:W3CDTF">2013-06-19T05:06:46Z</dcterms:created>
  <dcterms:modified xsi:type="dcterms:W3CDTF">2025-12-03T03:14:45Z</dcterms:modified>
</cp:coreProperties>
</file>